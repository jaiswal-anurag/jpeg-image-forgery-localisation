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nantason Bold" charset="1" panose="00000000000000000000"/>
      <p:regular r:id="rId24"/>
    </p:embeddedFont>
    <p:embeddedFont>
      <p:font typeface="Cloud Bold" charset="1" panose="02000000000000000000"/>
      <p:regular r:id="rId25"/>
    </p:embeddedFont>
    <p:embeddedFont>
      <p:font typeface="Anantason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7430805"/>
            <a:ext cx="5488466" cy="3199095"/>
          </a:xfrm>
          <a:custGeom>
            <a:avLst/>
            <a:gdLst/>
            <a:ahLst/>
            <a:cxnLst/>
            <a:rect r="r" b="b" t="t" l="l"/>
            <a:pathLst>
              <a:path h="3199095" w="5488466">
                <a:moveTo>
                  <a:pt x="0" y="0"/>
                </a:moveTo>
                <a:lnTo>
                  <a:pt x="5488466" y="0"/>
                </a:lnTo>
                <a:lnTo>
                  <a:pt x="5488466" y="3199095"/>
                </a:lnTo>
                <a:lnTo>
                  <a:pt x="0" y="31990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288361" y="-357188"/>
            <a:ext cx="5695691" cy="3319881"/>
          </a:xfrm>
          <a:custGeom>
            <a:avLst/>
            <a:gdLst/>
            <a:ahLst/>
            <a:cxnLst/>
            <a:rect r="r" b="b" t="t" l="l"/>
            <a:pathLst>
              <a:path h="3319881" w="5695691">
                <a:moveTo>
                  <a:pt x="5695690" y="3319882"/>
                </a:moveTo>
                <a:lnTo>
                  <a:pt x="0" y="3319882"/>
                </a:lnTo>
                <a:lnTo>
                  <a:pt x="0" y="0"/>
                </a:lnTo>
                <a:lnTo>
                  <a:pt x="5695690" y="0"/>
                </a:lnTo>
                <a:lnTo>
                  <a:pt x="5695690" y="331988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4163" y="1592681"/>
            <a:ext cx="17468259" cy="263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BLOCK-LEVEL DOUBLE JPEG COMPRESSION DETECTION FOR IMAGE</a:t>
            </a:r>
          </a:p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FORGERY LOCALIZATION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18472" y="5057775"/>
            <a:ext cx="8522150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Digital image processing (EEL605)</a:t>
            </a:r>
          </a:p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C3571"/>
                </a:solidFill>
                <a:latin typeface="Cloud Bold"/>
                <a:ea typeface="Cloud Bold"/>
                <a:cs typeface="Cloud Bold"/>
                <a:sym typeface="Cloud Bold"/>
              </a:rPr>
              <a:t>By Team 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64465" y="7105915"/>
            <a:ext cx="4033123" cy="1384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TEAM MEMBERS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35758" y="7105915"/>
            <a:ext cx="5600700" cy="113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PROJECT INSTRUCTOR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DR. NITIN KHANNA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1366" y="8166365"/>
            <a:ext cx="2876312" cy="1136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TA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DHEERAJ BISWAS</a:t>
            </a: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64465" y="7817781"/>
            <a:ext cx="4934248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ANURAG JAISWAL 12340300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SHIVAM SINGH 12342020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DIVIT SHARMA 12340680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SRILATHA 12341720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73814" y="4352925"/>
            <a:ext cx="981146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AUTHORS: 1. VINAY VE</a:t>
            </a: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RMA   2. DEEPAK SINGH  3. NITIN KHANNA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8031687"/>
            <a:ext cx="4457575" cy="2598213"/>
          </a:xfrm>
          <a:custGeom>
            <a:avLst/>
            <a:gdLst/>
            <a:ahLst/>
            <a:cxnLst/>
            <a:rect r="r" b="b" t="t" l="l"/>
            <a:pathLst>
              <a:path h="2598213" w="4457575">
                <a:moveTo>
                  <a:pt x="0" y="0"/>
                </a:moveTo>
                <a:lnTo>
                  <a:pt x="4457575" y="0"/>
                </a:lnTo>
                <a:lnTo>
                  <a:pt x="4457575" y="2598213"/>
                </a:lnTo>
                <a:lnTo>
                  <a:pt x="0" y="25982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573609" y="-357188"/>
            <a:ext cx="4410443" cy="2570741"/>
          </a:xfrm>
          <a:custGeom>
            <a:avLst/>
            <a:gdLst/>
            <a:ahLst/>
            <a:cxnLst/>
            <a:rect r="r" b="b" t="t" l="l"/>
            <a:pathLst>
              <a:path h="2570741" w="4410443">
                <a:moveTo>
                  <a:pt x="4410442" y="2570742"/>
                </a:moveTo>
                <a:lnTo>
                  <a:pt x="0" y="2570742"/>
                </a:lnTo>
                <a:lnTo>
                  <a:pt x="0" y="0"/>
                </a:lnTo>
                <a:lnTo>
                  <a:pt x="4410442" y="0"/>
                </a:lnTo>
                <a:lnTo>
                  <a:pt x="4410442" y="25707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287342" y="567933"/>
            <a:ext cx="10890353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PROJECT GOALS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3972" y="2046605"/>
            <a:ext cx="17020056" cy="679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GIVEN A JPEG IMAGE THAT MAY HAVE BEEN LOCALLY MANIPULATED, THE GOAL IS TO: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</a:p>
          <a:p>
            <a:pPr algn="l">
              <a:lnSpc>
                <a:spcPts val="4900"/>
              </a:lnSpc>
            </a:pPr>
            <a:r>
              <a:rPr lang="en-US" b="true" sz="3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1. CLASSIFY EACH BLOCK/PATCH OF THE IMAGE AS SINGLE COMPRESSED OR DOUBLE COMPRESSED. 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  <a:r>
              <a:rPr lang="en-US" b="true" sz="3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2. PRODUCE A FORGERY LOCALISATION MAP HIGHLIGHTING THE TAMPERED REGIONS.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  <a:r>
              <a:rPr lang="en-US" b="true" sz="3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3. PRODUCE COMPARASION TABLE BY CHANGING DIFFERENT PARAMETERS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7599861"/>
            <a:ext cx="5198428" cy="3030039"/>
          </a:xfrm>
          <a:custGeom>
            <a:avLst/>
            <a:gdLst/>
            <a:ahLst/>
            <a:cxnLst/>
            <a:rect r="r" b="b" t="t" l="l"/>
            <a:pathLst>
              <a:path h="3030039" w="5198428">
                <a:moveTo>
                  <a:pt x="0" y="0"/>
                </a:moveTo>
                <a:lnTo>
                  <a:pt x="5198428" y="0"/>
                </a:lnTo>
                <a:lnTo>
                  <a:pt x="5198428" y="3030039"/>
                </a:lnTo>
                <a:lnTo>
                  <a:pt x="0" y="3030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73855" y="-357188"/>
            <a:ext cx="4610196" cy="2687172"/>
          </a:xfrm>
          <a:custGeom>
            <a:avLst/>
            <a:gdLst/>
            <a:ahLst/>
            <a:cxnLst/>
            <a:rect r="r" b="b" t="t" l="l"/>
            <a:pathLst>
              <a:path h="2687172" w="4610196">
                <a:moveTo>
                  <a:pt x="4610196" y="2687173"/>
                </a:moveTo>
                <a:lnTo>
                  <a:pt x="0" y="2687173"/>
                </a:lnTo>
                <a:lnTo>
                  <a:pt x="0" y="0"/>
                </a:lnTo>
                <a:lnTo>
                  <a:pt x="4610196" y="0"/>
                </a:lnTo>
                <a:lnTo>
                  <a:pt x="4610196" y="268717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66912" y="2486711"/>
            <a:ext cx="14354175" cy="6085789"/>
          </a:xfrm>
          <a:custGeom>
            <a:avLst/>
            <a:gdLst/>
            <a:ahLst/>
            <a:cxnLst/>
            <a:rect r="r" b="b" t="t" l="l"/>
            <a:pathLst>
              <a:path h="6085789" w="14354175">
                <a:moveTo>
                  <a:pt x="0" y="0"/>
                </a:moveTo>
                <a:lnTo>
                  <a:pt x="14354176" y="0"/>
                </a:lnTo>
                <a:lnTo>
                  <a:pt x="14354176" y="6085789"/>
                </a:lnTo>
                <a:lnTo>
                  <a:pt x="0" y="60857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3097" r="0" b="-215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79357" y="1216025"/>
            <a:ext cx="1617797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THE CORE IDEA: SINGLE VS. DOUBLE COMPRESSION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7828981"/>
            <a:ext cx="4805343" cy="2800919"/>
          </a:xfrm>
          <a:custGeom>
            <a:avLst/>
            <a:gdLst/>
            <a:ahLst/>
            <a:cxnLst/>
            <a:rect r="r" b="b" t="t" l="l"/>
            <a:pathLst>
              <a:path h="2800919" w="4805343">
                <a:moveTo>
                  <a:pt x="0" y="0"/>
                </a:moveTo>
                <a:lnTo>
                  <a:pt x="4805343" y="0"/>
                </a:lnTo>
                <a:lnTo>
                  <a:pt x="4805343" y="2800919"/>
                </a:lnTo>
                <a:lnTo>
                  <a:pt x="0" y="28009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480462" y="-357188"/>
            <a:ext cx="4503589" cy="2625034"/>
          </a:xfrm>
          <a:custGeom>
            <a:avLst/>
            <a:gdLst/>
            <a:ahLst/>
            <a:cxnLst/>
            <a:rect r="r" b="b" t="t" l="l"/>
            <a:pathLst>
              <a:path h="2625034" w="4503589">
                <a:moveTo>
                  <a:pt x="4503589" y="2625035"/>
                </a:moveTo>
                <a:lnTo>
                  <a:pt x="0" y="2625035"/>
                </a:lnTo>
                <a:lnTo>
                  <a:pt x="0" y="0"/>
                </a:lnTo>
                <a:lnTo>
                  <a:pt x="4503589" y="0"/>
                </a:lnTo>
                <a:lnTo>
                  <a:pt x="4503589" y="26250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80729" y="2611357"/>
            <a:ext cx="9495929" cy="6486312"/>
          </a:xfrm>
          <a:custGeom>
            <a:avLst/>
            <a:gdLst/>
            <a:ahLst/>
            <a:cxnLst/>
            <a:rect r="r" b="b" t="t" l="l"/>
            <a:pathLst>
              <a:path h="6486312" w="9495929">
                <a:moveTo>
                  <a:pt x="0" y="0"/>
                </a:moveTo>
                <a:lnTo>
                  <a:pt x="9495929" y="0"/>
                </a:lnTo>
                <a:lnTo>
                  <a:pt x="9495929" y="6486311"/>
                </a:lnTo>
                <a:lnTo>
                  <a:pt x="0" y="64863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489" t="-1954" r="-182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98087" y="669030"/>
            <a:ext cx="16661213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ILLUSTRATION OF FORGERY LOCALIZATION MODEL IN JPEG IMAGES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8031687"/>
            <a:ext cx="4457575" cy="2598213"/>
          </a:xfrm>
          <a:custGeom>
            <a:avLst/>
            <a:gdLst/>
            <a:ahLst/>
            <a:cxnLst/>
            <a:rect r="r" b="b" t="t" l="l"/>
            <a:pathLst>
              <a:path h="2598213" w="4457575">
                <a:moveTo>
                  <a:pt x="0" y="0"/>
                </a:moveTo>
                <a:lnTo>
                  <a:pt x="4457575" y="0"/>
                </a:lnTo>
                <a:lnTo>
                  <a:pt x="4457575" y="2598213"/>
                </a:lnTo>
                <a:lnTo>
                  <a:pt x="0" y="25982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573609" y="-357188"/>
            <a:ext cx="4410443" cy="2570741"/>
          </a:xfrm>
          <a:custGeom>
            <a:avLst/>
            <a:gdLst/>
            <a:ahLst/>
            <a:cxnLst/>
            <a:rect r="r" b="b" t="t" l="l"/>
            <a:pathLst>
              <a:path h="2570741" w="4410443">
                <a:moveTo>
                  <a:pt x="4410442" y="2570742"/>
                </a:moveTo>
                <a:lnTo>
                  <a:pt x="0" y="2570742"/>
                </a:lnTo>
                <a:lnTo>
                  <a:pt x="0" y="0"/>
                </a:lnTo>
                <a:lnTo>
                  <a:pt x="4410442" y="0"/>
                </a:lnTo>
                <a:lnTo>
                  <a:pt x="4410442" y="257074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85998" y="2297833"/>
          <a:ext cx="17796746" cy="5123135"/>
        </p:xfrm>
        <a:graphic>
          <a:graphicData uri="http://schemas.openxmlformats.org/drawingml/2006/table">
            <a:tbl>
              <a:tblPr/>
              <a:tblGrid>
                <a:gridCol w="4677227"/>
                <a:gridCol w="6577688"/>
                <a:gridCol w="6541831"/>
              </a:tblGrid>
              <a:tr h="27399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314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3287342" y="567933"/>
            <a:ext cx="10890353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RELATED WORK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761" y="2347152"/>
            <a:ext cx="1894403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METHOD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88773" y="2347152"/>
            <a:ext cx="131742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INPUT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94462" y="2347152"/>
            <a:ext cx="3166467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KEY 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69766" y="3495410"/>
            <a:ext cx="4162068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VERMA ET AL. 2018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9766" y="5565775"/>
            <a:ext cx="379404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PARK ET AL. 2018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431833" y="3296995"/>
            <a:ext cx="7019742" cy="1774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7"/>
              </a:lnSpc>
              <a:spcBef>
                <a:spcPct val="0"/>
              </a:spcBef>
            </a:pPr>
            <a:r>
              <a:rPr lang="en-US" b="true" sz="3548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</a:t>
            </a:r>
            <a:r>
              <a:rPr lang="en-US" b="true" sz="3548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AW QUANTIZED (FROM BITSTREAM)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1410028" y="3495410"/>
            <a:ext cx="6327163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NO Q-MATRIX INFO USED AT ALL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11441" y="5364614"/>
            <a:ext cx="5309119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FAILS ON UNSEEN Q-MATRICES (TPR ≈ 3%)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42631" y="5364614"/>
            <a:ext cx="6127137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DE-QUANTIZED HISTOGRAM + Q APPENDED AT FC LAYERS</a:t>
            </a:r>
          </a:p>
        </p:txBody>
      </p:sp>
      <p:sp>
        <p:nvSpPr>
          <p:cNvPr name="AutoShape 19" id="19"/>
          <p:cNvSpPr/>
          <p:nvPr/>
        </p:nvSpPr>
        <p:spPr>
          <a:xfrm>
            <a:off x="85998" y="3076475"/>
            <a:ext cx="1779674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8013960"/>
            <a:ext cx="4487987" cy="2615940"/>
          </a:xfrm>
          <a:custGeom>
            <a:avLst/>
            <a:gdLst/>
            <a:ahLst/>
            <a:cxnLst/>
            <a:rect r="r" b="b" t="t" l="l"/>
            <a:pathLst>
              <a:path h="2615940" w="4487987">
                <a:moveTo>
                  <a:pt x="0" y="0"/>
                </a:moveTo>
                <a:lnTo>
                  <a:pt x="4487987" y="0"/>
                </a:lnTo>
                <a:lnTo>
                  <a:pt x="4487987" y="2615940"/>
                </a:lnTo>
                <a:lnTo>
                  <a:pt x="0" y="26159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013158" y="-357187"/>
            <a:ext cx="3970893" cy="2314538"/>
          </a:xfrm>
          <a:custGeom>
            <a:avLst/>
            <a:gdLst/>
            <a:ahLst/>
            <a:cxnLst/>
            <a:rect r="r" b="b" t="t" l="l"/>
            <a:pathLst>
              <a:path h="2314538" w="3970893">
                <a:moveTo>
                  <a:pt x="3970893" y="2314538"/>
                </a:moveTo>
                <a:lnTo>
                  <a:pt x="0" y="2314538"/>
                </a:lnTo>
                <a:lnTo>
                  <a:pt x="0" y="0"/>
                </a:lnTo>
                <a:lnTo>
                  <a:pt x="3970893" y="0"/>
                </a:lnTo>
                <a:lnTo>
                  <a:pt x="3970893" y="231453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096034" y="1028700"/>
            <a:ext cx="8286008" cy="8768263"/>
          </a:xfrm>
          <a:custGeom>
            <a:avLst/>
            <a:gdLst/>
            <a:ahLst/>
            <a:cxnLst/>
            <a:rect r="r" b="b" t="t" l="l"/>
            <a:pathLst>
              <a:path h="8768263" w="8286008">
                <a:moveTo>
                  <a:pt x="0" y="0"/>
                </a:moveTo>
                <a:lnTo>
                  <a:pt x="8286008" y="0"/>
                </a:lnTo>
                <a:lnTo>
                  <a:pt x="8286008" y="8768263"/>
                </a:lnTo>
                <a:lnTo>
                  <a:pt x="0" y="87682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01600"/>
            <a:ext cx="13129310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</a:t>
            </a:r>
            <a:r>
              <a:rPr lang="en-US" b="true" sz="5000">
                <a:solidFill>
                  <a:srgbClr val="000000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ROPOSED METHOD — BLOCK DIAGRAM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7908842"/>
            <a:ext cx="4668331" cy="2721058"/>
          </a:xfrm>
          <a:custGeom>
            <a:avLst/>
            <a:gdLst/>
            <a:ahLst/>
            <a:cxnLst/>
            <a:rect r="r" b="b" t="t" l="l"/>
            <a:pathLst>
              <a:path h="2721058" w="4668331">
                <a:moveTo>
                  <a:pt x="0" y="0"/>
                </a:moveTo>
                <a:lnTo>
                  <a:pt x="4668331" y="0"/>
                </a:lnTo>
                <a:lnTo>
                  <a:pt x="4668331" y="2721058"/>
                </a:lnTo>
                <a:lnTo>
                  <a:pt x="0" y="27210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454895" y="-357188"/>
            <a:ext cx="4529156" cy="2639936"/>
          </a:xfrm>
          <a:custGeom>
            <a:avLst/>
            <a:gdLst/>
            <a:ahLst/>
            <a:cxnLst/>
            <a:rect r="r" b="b" t="t" l="l"/>
            <a:pathLst>
              <a:path h="2639936" w="4529156">
                <a:moveTo>
                  <a:pt x="4529156" y="2639937"/>
                </a:moveTo>
                <a:lnTo>
                  <a:pt x="0" y="2639937"/>
                </a:lnTo>
                <a:lnTo>
                  <a:pt x="0" y="0"/>
                </a:lnTo>
                <a:lnTo>
                  <a:pt x="4529156" y="0"/>
                </a:lnTo>
                <a:lnTo>
                  <a:pt x="4529156" y="263993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38741" y="2726379"/>
            <a:ext cx="7349259" cy="3959413"/>
          </a:xfrm>
          <a:custGeom>
            <a:avLst/>
            <a:gdLst/>
            <a:ahLst/>
            <a:cxnLst/>
            <a:rect r="r" b="b" t="t" l="l"/>
            <a:pathLst>
              <a:path h="3959413" w="7349259">
                <a:moveTo>
                  <a:pt x="0" y="0"/>
                </a:moveTo>
                <a:lnTo>
                  <a:pt x="7349259" y="0"/>
                </a:lnTo>
                <a:lnTo>
                  <a:pt x="7349259" y="3959413"/>
                </a:lnTo>
                <a:lnTo>
                  <a:pt x="0" y="39594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96034" y="418835"/>
            <a:ext cx="7361064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WHY DENSENET 121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1649888"/>
            <a:ext cx="13693790" cy="7061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 </a:t>
            </a:r>
            <a:r>
              <a:rPr lang="en-US" b="true" sz="32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DENSE CONNECTIONS PRESERVE DCT FEATURES </a:t>
            </a:r>
            <a:r>
              <a:rPr lang="en-US" sz="3200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— EVERY LAYER ACCESSES ALL PREVIOUS FEATURE MAPS, ENSURING NO SUBTLE DCT STATISTICAL PATTERN IS LOST.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AutoNum type="arabicPeriod" startAt="1"/>
            </a:pPr>
            <a:r>
              <a:rPr lang="en-US" sz="3200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 </a:t>
            </a:r>
            <a:r>
              <a:rPr lang="en-US" b="true" sz="32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PARAMETER EFFICIENT —</a:t>
            </a:r>
            <a:r>
              <a:rPr lang="en-US" sz="3200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 FEATURE REUSE REDUCES REDUNDANCY, PREVENTING OVERFITTING ON LARGE 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       </a:t>
            </a:r>
            <a:r>
              <a:rPr lang="en-US" sz="3200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342K IMAGE DATASET.</a:t>
            </a:r>
          </a:p>
          <a:p>
            <a:pPr algn="l">
              <a:lnSpc>
                <a:spcPts val="4480"/>
              </a:lnSpc>
            </a:pPr>
          </a:p>
          <a:p>
            <a:pPr algn="l" marL="659146" indent="-329573" lvl="1">
              <a:lnSpc>
                <a:spcPts val="4274"/>
              </a:lnSpc>
              <a:buAutoNum type="arabicPeriod" startAt="1"/>
            </a:pPr>
            <a:r>
              <a:rPr lang="en-US" sz="3053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 </a:t>
            </a:r>
            <a:r>
              <a:rPr lang="en-US" b="true" sz="3053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STRONG GRADIENT FLOW — </a:t>
            </a:r>
            <a:r>
              <a:rPr lang="en-US" sz="3053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 </a:t>
            </a:r>
            <a:r>
              <a:rPr lang="en-US" sz="3053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DIRECT BACKPROPAGATION </a:t>
            </a:r>
          </a:p>
          <a:p>
            <a:pPr algn="l">
              <a:lnSpc>
                <a:spcPts val="4274"/>
              </a:lnSpc>
            </a:pPr>
            <a:r>
              <a:rPr lang="en-US" sz="3053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      </a:t>
            </a:r>
            <a:r>
              <a:rPr lang="en-US" sz="3053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TO EARLY LAYERS SOLVES VANISHING GRADIENT, ENABLING STABLE </a:t>
            </a:r>
          </a:p>
          <a:p>
            <a:pPr algn="l">
              <a:lnSpc>
                <a:spcPts val="4274"/>
              </a:lnSpc>
            </a:pPr>
            <a:r>
              <a:rPr lang="en-US" sz="3053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      TRAINING ON NON-STANDARD 2-CHANNEL DCT INPUT.</a:t>
            </a:r>
            <a:r>
              <a:rPr lang="en-US" sz="3053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 </a:t>
            </a:r>
          </a:p>
          <a:p>
            <a:pPr algn="l">
              <a:lnSpc>
                <a:spcPts val="4274"/>
              </a:lnSpc>
            </a:pPr>
          </a:p>
          <a:p>
            <a:pPr algn="l">
              <a:lnSpc>
                <a:spcPts val="3561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8066385"/>
            <a:ext cx="4398045" cy="2563515"/>
          </a:xfrm>
          <a:custGeom>
            <a:avLst/>
            <a:gdLst/>
            <a:ahLst/>
            <a:cxnLst/>
            <a:rect r="r" b="b" t="t" l="l"/>
            <a:pathLst>
              <a:path h="2563515" w="4398045">
                <a:moveTo>
                  <a:pt x="0" y="0"/>
                </a:moveTo>
                <a:lnTo>
                  <a:pt x="4398045" y="0"/>
                </a:lnTo>
                <a:lnTo>
                  <a:pt x="4398045" y="2563515"/>
                </a:lnTo>
                <a:lnTo>
                  <a:pt x="0" y="25635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562359" y="-357188"/>
            <a:ext cx="4421692" cy="2577298"/>
          </a:xfrm>
          <a:custGeom>
            <a:avLst/>
            <a:gdLst/>
            <a:ahLst/>
            <a:cxnLst/>
            <a:rect r="r" b="b" t="t" l="l"/>
            <a:pathLst>
              <a:path h="2577298" w="4421692">
                <a:moveTo>
                  <a:pt x="4421692" y="2577299"/>
                </a:moveTo>
                <a:lnTo>
                  <a:pt x="0" y="2577299"/>
                </a:lnTo>
                <a:lnTo>
                  <a:pt x="0" y="0"/>
                </a:lnTo>
                <a:lnTo>
                  <a:pt x="4421692" y="0"/>
                </a:lnTo>
                <a:lnTo>
                  <a:pt x="4421692" y="25772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71366" y="1028700"/>
            <a:ext cx="14318274" cy="7742296"/>
          </a:xfrm>
          <a:custGeom>
            <a:avLst/>
            <a:gdLst/>
            <a:ahLst/>
            <a:cxnLst/>
            <a:rect r="r" b="b" t="t" l="l"/>
            <a:pathLst>
              <a:path h="7742296" w="14318274">
                <a:moveTo>
                  <a:pt x="0" y="0"/>
                </a:moveTo>
                <a:lnTo>
                  <a:pt x="14318274" y="0"/>
                </a:lnTo>
                <a:lnTo>
                  <a:pt x="14318274" y="7742296"/>
                </a:lnTo>
                <a:lnTo>
                  <a:pt x="0" y="77422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840" r="0" b="-2186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8051357"/>
            <a:ext cx="4423829" cy="2578543"/>
          </a:xfrm>
          <a:custGeom>
            <a:avLst/>
            <a:gdLst/>
            <a:ahLst/>
            <a:cxnLst/>
            <a:rect r="r" b="b" t="t" l="l"/>
            <a:pathLst>
              <a:path h="2578543" w="4423829">
                <a:moveTo>
                  <a:pt x="0" y="0"/>
                </a:moveTo>
                <a:lnTo>
                  <a:pt x="4423829" y="0"/>
                </a:lnTo>
                <a:lnTo>
                  <a:pt x="4423829" y="2578543"/>
                </a:lnTo>
                <a:lnTo>
                  <a:pt x="0" y="2578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298020" y="-357188"/>
            <a:ext cx="4686032" cy="2731375"/>
          </a:xfrm>
          <a:custGeom>
            <a:avLst/>
            <a:gdLst/>
            <a:ahLst/>
            <a:cxnLst/>
            <a:rect r="r" b="b" t="t" l="l"/>
            <a:pathLst>
              <a:path h="2731375" w="4686032">
                <a:moveTo>
                  <a:pt x="4686031" y="2731376"/>
                </a:moveTo>
                <a:lnTo>
                  <a:pt x="0" y="2731376"/>
                </a:lnTo>
                <a:lnTo>
                  <a:pt x="0" y="0"/>
                </a:lnTo>
                <a:lnTo>
                  <a:pt x="4686031" y="0"/>
                </a:lnTo>
                <a:lnTo>
                  <a:pt x="4686031" y="27313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99714" y="1028700"/>
            <a:ext cx="13542837" cy="7570423"/>
          </a:xfrm>
          <a:custGeom>
            <a:avLst/>
            <a:gdLst/>
            <a:ahLst/>
            <a:cxnLst/>
            <a:rect r="r" b="b" t="t" l="l"/>
            <a:pathLst>
              <a:path h="7570423" w="13542837">
                <a:moveTo>
                  <a:pt x="0" y="0"/>
                </a:moveTo>
                <a:lnTo>
                  <a:pt x="13542837" y="0"/>
                </a:lnTo>
                <a:lnTo>
                  <a:pt x="13542837" y="7570423"/>
                </a:lnTo>
                <a:lnTo>
                  <a:pt x="0" y="75704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600" t="-2391" r="-2599" b="-548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7813408"/>
            <a:ext cx="4832061" cy="2816492"/>
          </a:xfrm>
          <a:custGeom>
            <a:avLst/>
            <a:gdLst/>
            <a:ahLst/>
            <a:cxnLst/>
            <a:rect r="r" b="b" t="t" l="l"/>
            <a:pathLst>
              <a:path h="2816492" w="4832061">
                <a:moveTo>
                  <a:pt x="0" y="0"/>
                </a:moveTo>
                <a:lnTo>
                  <a:pt x="4832061" y="0"/>
                </a:lnTo>
                <a:lnTo>
                  <a:pt x="4832061" y="2816492"/>
                </a:lnTo>
                <a:lnTo>
                  <a:pt x="0" y="2816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042717" y="-357188"/>
            <a:ext cx="4941334" cy="2880185"/>
          </a:xfrm>
          <a:custGeom>
            <a:avLst/>
            <a:gdLst/>
            <a:ahLst/>
            <a:cxnLst/>
            <a:rect r="r" b="b" t="t" l="l"/>
            <a:pathLst>
              <a:path h="2880185" w="4941334">
                <a:moveTo>
                  <a:pt x="4941334" y="2880185"/>
                </a:moveTo>
                <a:lnTo>
                  <a:pt x="0" y="2880185"/>
                </a:lnTo>
                <a:lnTo>
                  <a:pt x="0" y="0"/>
                </a:lnTo>
                <a:lnTo>
                  <a:pt x="4941334" y="0"/>
                </a:lnTo>
                <a:lnTo>
                  <a:pt x="4941334" y="288018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71366" y="1345227"/>
            <a:ext cx="14480061" cy="7523259"/>
          </a:xfrm>
          <a:custGeom>
            <a:avLst/>
            <a:gdLst/>
            <a:ahLst/>
            <a:cxnLst/>
            <a:rect r="r" b="b" t="t" l="l"/>
            <a:pathLst>
              <a:path h="7523259" w="14480061">
                <a:moveTo>
                  <a:pt x="0" y="0"/>
                </a:moveTo>
                <a:lnTo>
                  <a:pt x="14480062" y="0"/>
                </a:lnTo>
                <a:lnTo>
                  <a:pt x="14480062" y="7523259"/>
                </a:lnTo>
                <a:lnTo>
                  <a:pt x="0" y="7523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63" t="-4207" r="-1163" b="-6576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7142563"/>
            <a:ext cx="5982983" cy="3487337"/>
          </a:xfrm>
          <a:custGeom>
            <a:avLst/>
            <a:gdLst/>
            <a:ahLst/>
            <a:cxnLst/>
            <a:rect r="r" b="b" t="t" l="l"/>
            <a:pathLst>
              <a:path h="3487337" w="5982983">
                <a:moveTo>
                  <a:pt x="0" y="0"/>
                </a:moveTo>
                <a:lnTo>
                  <a:pt x="5982983" y="0"/>
                </a:lnTo>
                <a:lnTo>
                  <a:pt x="5982983" y="3487337"/>
                </a:lnTo>
                <a:lnTo>
                  <a:pt x="0" y="3487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623122" y="-357188"/>
            <a:ext cx="5360930" cy="3124757"/>
          </a:xfrm>
          <a:custGeom>
            <a:avLst/>
            <a:gdLst/>
            <a:ahLst/>
            <a:cxnLst/>
            <a:rect r="r" b="b" t="t" l="l"/>
            <a:pathLst>
              <a:path h="3124757" w="5360930">
                <a:moveTo>
                  <a:pt x="5360929" y="3124758"/>
                </a:moveTo>
                <a:lnTo>
                  <a:pt x="0" y="3124758"/>
                </a:lnTo>
                <a:lnTo>
                  <a:pt x="0" y="0"/>
                </a:lnTo>
                <a:lnTo>
                  <a:pt x="5360929" y="0"/>
                </a:lnTo>
                <a:lnTo>
                  <a:pt x="5360929" y="312475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110594" y="1028700"/>
            <a:ext cx="13720417" cy="7717734"/>
          </a:xfrm>
          <a:custGeom>
            <a:avLst/>
            <a:gdLst/>
            <a:ahLst/>
            <a:cxnLst/>
            <a:rect r="r" b="b" t="t" l="l"/>
            <a:pathLst>
              <a:path h="7717734" w="13720417">
                <a:moveTo>
                  <a:pt x="0" y="0"/>
                </a:moveTo>
                <a:lnTo>
                  <a:pt x="13720416" y="0"/>
                </a:lnTo>
                <a:lnTo>
                  <a:pt x="13720416" y="7717734"/>
                </a:lnTo>
                <a:lnTo>
                  <a:pt x="0" y="7717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7531945"/>
            <a:ext cx="5314948" cy="3097955"/>
          </a:xfrm>
          <a:custGeom>
            <a:avLst/>
            <a:gdLst/>
            <a:ahLst/>
            <a:cxnLst/>
            <a:rect r="r" b="b" t="t" l="l"/>
            <a:pathLst>
              <a:path h="3097955" w="5314948">
                <a:moveTo>
                  <a:pt x="0" y="0"/>
                </a:moveTo>
                <a:lnTo>
                  <a:pt x="5314948" y="0"/>
                </a:lnTo>
                <a:lnTo>
                  <a:pt x="5314948" y="3097955"/>
                </a:lnTo>
                <a:lnTo>
                  <a:pt x="0" y="30979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248568" y="-357187"/>
            <a:ext cx="4735483" cy="2760199"/>
          </a:xfrm>
          <a:custGeom>
            <a:avLst/>
            <a:gdLst/>
            <a:ahLst/>
            <a:cxnLst/>
            <a:rect r="r" b="b" t="t" l="l"/>
            <a:pathLst>
              <a:path h="2760199" w="4735483">
                <a:moveTo>
                  <a:pt x="4735483" y="2760199"/>
                </a:moveTo>
                <a:lnTo>
                  <a:pt x="0" y="2760199"/>
                </a:lnTo>
                <a:lnTo>
                  <a:pt x="0" y="0"/>
                </a:lnTo>
                <a:lnTo>
                  <a:pt x="4735483" y="0"/>
                </a:lnTo>
                <a:lnTo>
                  <a:pt x="4735483" y="27601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30246" y="911964"/>
            <a:ext cx="8964473" cy="8841963"/>
          </a:xfrm>
          <a:custGeom>
            <a:avLst/>
            <a:gdLst/>
            <a:ahLst/>
            <a:cxnLst/>
            <a:rect r="r" b="b" t="t" l="l"/>
            <a:pathLst>
              <a:path h="8841963" w="8964473">
                <a:moveTo>
                  <a:pt x="0" y="0"/>
                </a:moveTo>
                <a:lnTo>
                  <a:pt x="8964474" y="0"/>
                </a:lnTo>
                <a:lnTo>
                  <a:pt x="8964474" y="8841963"/>
                </a:lnTo>
                <a:lnTo>
                  <a:pt x="0" y="884196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34" t="0" r="0" b="-45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251549" y="-104775"/>
            <a:ext cx="7784902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FORGERY LOCALIZATION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7712340"/>
            <a:ext cx="5005456" cy="2917560"/>
          </a:xfrm>
          <a:custGeom>
            <a:avLst/>
            <a:gdLst/>
            <a:ahLst/>
            <a:cxnLst/>
            <a:rect r="r" b="b" t="t" l="l"/>
            <a:pathLst>
              <a:path h="2917560" w="5005456">
                <a:moveTo>
                  <a:pt x="0" y="0"/>
                </a:moveTo>
                <a:lnTo>
                  <a:pt x="5005456" y="0"/>
                </a:lnTo>
                <a:lnTo>
                  <a:pt x="5005456" y="2917560"/>
                </a:lnTo>
                <a:lnTo>
                  <a:pt x="0" y="2917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663271" y="-357188"/>
            <a:ext cx="5320781" cy="3101355"/>
          </a:xfrm>
          <a:custGeom>
            <a:avLst/>
            <a:gdLst/>
            <a:ahLst/>
            <a:cxnLst/>
            <a:rect r="r" b="b" t="t" l="l"/>
            <a:pathLst>
              <a:path h="3101355" w="5320781">
                <a:moveTo>
                  <a:pt x="5320780" y="3101356"/>
                </a:moveTo>
                <a:lnTo>
                  <a:pt x="0" y="3101356"/>
                </a:lnTo>
                <a:lnTo>
                  <a:pt x="0" y="0"/>
                </a:lnTo>
                <a:lnTo>
                  <a:pt x="5320780" y="0"/>
                </a:lnTo>
                <a:lnTo>
                  <a:pt x="5320780" y="310135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333224" y="2561304"/>
            <a:ext cx="13314393" cy="4970538"/>
          </a:xfrm>
          <a:custGeom>
            <a:avLst/>
            <a:gdLst/>
            <a:ahLst/>
            <a:cxnLst/>
            <a:rect r="r" b="b" t="t" l="l"/>
            <a:pathLst>
              <a:path h="4970538" w="13314393">
                <a:moveTo>
                  <a:pt x="0" y="0"/>
                </a:moveTo>
                <a:lnTo>
                  <a:pt x="13314392" y="0"/>
                </a:lnTo>
                <a:lnTo>
                  <a:pt x="13314392" y="4970538"/>
                </a:lnTo>
                <a:lnTo>
                  <a:pt x="0" y="49705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811" t="0" r="-381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83339" y="544513"/>
            <a:ext cx="783062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Forgery localization results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7782716"/>
            <a:ext cx="4884717" cy="2847184"/>
          </a:xfrm>
          <a:custGeom>
            <a:avLst/>
            <a:gdLst/>
            <a:ahLst/>
            <a:cxnLst/>
            <a:rect r="r" b="b" t="t" l="l"/>
            <a:pathLst>
              <a:path h="2847184" w="4884717">
                <a:moveTo>
                  <a:pt x="0" y="0"/>
                </a:moveTo>
                <a:lnTo>
                  <a:pt x="4884717" y="0"/>
                </a:lnTo>
                <a:lnTo>
                  <a:pt x="4884717" y="2847184"/>
                </a:lnTo>
                <a:lnTo>
                  <a:pt x="0" y="2847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031127" y="-357188"/>
            <a:ext cx="4952925" cy="2886941"/>
          </a:xfrm>
          <a:custGeom>
            <a:avLst/>
            <a:gdLst/>
            <a:ahLst/>
            <a:cxnLst/>
            <a:rect r="r" b="b" t="t" l="l"/>
            <a:pathLst>
              <a:path h="2886941" w="4952925">
                <a:moveTo>
                  <a:pt x="4952924" y="2886941"/>
                </a:moveTo>
                <a:lnTo>
                  <a:pt x="0" y="2886941"/>
                </a:lnTo>
                <a:lnTo>
                  <a:pt x="0" y="0"/>
                </a:lnTo>
                <a:lnTo>
                  <a:pt x="4952924" y="0"/>
                </a:lnTo>
                <a:lnTo>
                  <a:pt x="4952924" y="288694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71366" y="2397062"/>
            <a:ext cx="13721374" cy="4982806"/>
          </a:xfrm>
          <a:custGeom>
            <a:avLst/>
            <a:gdLst/>
            <a:ahLst/>
            <a:cxnLst/>
            <a:rect r="r" b="b" t="t" l="l"/>
            <a:pathLst>
              <a:path h="4982806" w="13721374">
                <a:moveTo>
                  <a:pt x="0" y="0"/>
                </a:moveTo>
                <a:lnTo>
                  <a:pt x="13721374" y="0"/>
                </a:lnTo>
                <a:lnTo>
                  <a:pt x="13721374" y="4982805"/>
                </a:lnTo>
                <a:lnTo>
                  <a:pt x="0" y="49828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4042" t="-915" r="0" b="-5986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53434" y="667067"/>
            <a:ext cx="783062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Forgery localization results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7824431"/>
            <a:ext cx="4813149" cy="2805469"/>
          </a:xfrm>
          <a:custGeom>
            <a:avLst/>
            <a:gdLst/>
            <a:ahLst/>
            <a:cxnLst/>
            <a:rect r="r" b="b" t="t" l="l"/>
            <a:pathLst>
              <a:path h="2805469" w="4813149">
                <a:moveTo>
                  <a:pt x="0" y="0"/>
                </a:moveTo>
                <a:lnTo>
                  <a:pt x="4813149" y="0"/>
                </a:lnTo>
                <a:lnTo>
                  <a:pt x="4813149" y="2805469"/>
                </a:lnTo>
                <a:lnTo>
                  <a:pt x="0" y="28054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138226" y="-357187"/>
            <a:ext cx="4845825" cy="2824515"/>
          </a:xfrm>
          <a:custGeom>
            <a:avLst/>
            <a:gdLst/>
            <a:ahLst/>
            <a:cxnLst/>
            <a:rect r="r" b="b" t="t" l="l"/>
            <a:pathLst>
              <a:path h="2824515" w="4845825">
                <a:moveTo>
                  <a:pt x="4845825" y="2824514"/>
                </a:moveTo>
                <a:lnTo>
                  <a:pt x="0" y="2824514"/>
                </a:lnTo>
                <a:lnTo>
                  <a:pt x="0" y="0"/>
                </a:lnTo>
                <a:lnTo>
                  <a:pt x="4845825" y="0"/>
                </a:lnTo>
                <a:lnTo>
                  <a:pt x="4845825" y="28245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18528" y="2768677"/>
            <a:ext cx="13035784" cy="4749647"/>
          </a:xfrm>
          <a:custGeom>
            <a:avLst/>
            <a:gdLst/>
            <a:ahLst/>
            <a:cxnLst/>
            <a:rect r="r" b="b" t="t" l="l"/>
            <a:pathLst>
              <a:path h="4749647" w="13035784">
                <a:moveTo>
                  <a:pt x="0" y="0"/>
                </a:moveTo>
                <a:lnTo>
                  <a:pt x="13035785" y="0"/>
                </a:lnTo>
                <a:lnTo>
                  <a:pt x="13035785" y="4749646"/>
                </a:lnTo>
                <a:lnTo>
                  <a:pt x="0" y="47496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186" t="0" r="0" b="-379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44591" y="690962"/>
            <a:ext cx="783062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b="true" sz="5000">
                <a:solidFill>
                  <a:srgbClr val="000000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Forgery localization results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7712340"/>
            <a:ext cx="5005456" cy="2917560"/>
          </a:xfrm>
          <a:custGeom>
            <a:avLst/>
            <a:gdLst/>
            <a:ahLst/>
            <a:cxnLst/>
            <a:rect r="r" b="b" t="t" l="l"/>
            <a:pathLst>
              <a:path h="2917560" w="5005456">
                <a:moveTo>
                  <a:pt x="0" y="0"/>
                </a:moveTo>
                <a:lnTo>
                  <a:pt x="5005456" y="0"/>
                </a:lnTo>
                <a:lnTo>
                  <a:pt x="5005456" y="2917560"/>
                </a:lnTo>
                <a:lnTo>
                  <a:pt x="0" y="2917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514279" y="-357188"/>
            <a:ext cx="4469772" cy="2605323"/>
          </a:xfrm>
          <a:custGeom>
            <a:avLst/>
            <a:gdLst/>
            <a:ahLst/>
            <a:cxnLst/>
            <a:rect r="r" b="b" t="t" l="l"/>
            <a:pathLst>
              <a:path h="2605323" w="4469772">
                <a:moveTo>
                  <a:pt x="4469772" y="2605323"/>
                </a:moveTo>
                <a:lnTo>
                  <a:pt x="0" y="2605323"/>
                </a:lnTo>
                <a:lnTo>
                  <a:pt x="0" y="0"/>
                </a:lnTo>
                <a:lnTo>
                  <a:pt x="4469772" y="0"/>
                </a:lnTo>
                <a:lnTo>
                  <a:pt x="4469772" y="26053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94201" y="165100"/>
            <a:ext cx="1000929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00000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2223" y="2065059"/>
            <a:ext cx="17803554" cy="5596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6462" indent="-343231" lvl="1">
              <a:lnSpc>
                <a:spcPts val="4451"/>
              </a:lnSpc>
              <a:buAutoNum type="arabicPeriod" startAt="1"/>
            </a:pPr>
            <a:r>
              <a:rPr lang="en-US" sz="3179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 </a:t>
            </a:r>
            <a:r>
              <a:rPr lang="en-US" b="true" sz="317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DENSENET-121 ACHIEVES COMPETITIVE ACCURACY WITH THE MINIMUM PARAMETER COUNT </a:t>
            </a:r>
            <a:r>
              <a:rPr lang="en-US" b="true" sz="317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among the architectures evaluated.</a:t>
            </a:r>
          </a:p>
          <a:p>
            <a:pPr algn="l">
              <a:lnSpc>
                <a:spcPts val="4451"/>
              </a:lnSpc>
            </a:pPr>
          </a:p>
          <a:p>
            <a:pPr algn="l">
              <a:lnSpc>
                <a:spcPts val="4451"/>
              </a:lnSpc>
            </a:pPr>
            <a:r>
              <a:rPr lang="en-US" sz="3179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    2.</a:t>
            </a:r>
            <a:r>
              <a:rPr lang="en-US" sz="3179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 </a:t>
            </a:r>
            <a:r>
              <a:rPr lang="en-US" sz="3179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THE METHOD IS PARTICULARLY ROBUST TO UNSEEN QUANTISATION MATRICES, </a:t>
            </a:r>
          </a:p>
          <a:p>
            <a:pPr algn="l">
              <a:lnSpc>
                <a:spcPts val="4451"/>
              </a:lnSpc>
            </a:pPr>
            <a:r>
              <a:rPr lang="en-US" sz="3179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       WHERE COMPETING METHODS DEGRADE SEVERELY.</a:t>
            </a:r>
          </a:p>
          <a:p>
            <a:pPr algn="l">
              <a:lnSpc>
                <a:spcPts val="4451"/>
              </a:lnSpc>
            </a:pPr>
          </a:p>
          <a:p>
            <a:pPr algn="l">
              <a:lnSpc>
                <a:spcPts val="4451"/>
              </a:lnSpc>
            </a:pPr>
            <a:r>
              <a:rPr lang="en-US" sz="3179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    3. </a:t>
            </a:r>
            <a:r>
              <a:rPr lang="en-US" sz="3179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THE FAILURE CASES (Q1 = Q2 AND INTERMEDIATE PROCESSING) ARE WELL</a:t>
            </a:r>
          </a:p>
          <a:p>
            <a:pPr algn="l">
              <a:lnSpc>
                <a:spcPts val="4451"/>
              </a:lnSpc>
            </a:pPr>
            <a:r>
              <a:rPr lang="en-US" sz="3179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        UNDERSTOOD THEORETICALLY AND ARE CONSISTENT WITH THE BROADER </a:t>
            </a:r>
          </a:p>
          <a:p>
            <a:pPr algn="l">
              <a:lnSpc>
                <a:spcPts val="4451"/>
              </a:lnSpc>
            </a:pPr>
            <a:r>
              <a:rPr lang="en-US" sz="3179" b="true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         LITERATURE.</a:t>
            </a:r>
          </a:p>
          <a:p>
            <a:pPr algn="l">
              <a:lnSpc>
                <a:spcPts val="4451"/>
              </a:lnSpc>
              <a:spcBef>
                <a:spcPct val="0"/>
              </a:spcBef>
            </a:pPr>
            <a:r>
              <a:rPr lang="en-US" sz="3179">
                <a:solidFill>
                  <a:srgbClr val="0C3571"/>
                </a:solidFill>
                <a:latin typeface="Anantason"/>
                <a:ea typeface="Anantason"/>
                <a:cs typeface="Anantason"/>
                <a:sym typeface="Anantason"/>
              </a:rPr>
              <a:t>     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7599861"/>
            <a:ext cx="5198428" cy="3030039"/>
          </a:xfrm>
          <a:custGeom>
            <a:avLst/>
            <a:gdLst/>
            <a:ahLst/>
            <a:cxnLst/>
            <a:rect r="r" b="b" t="t" l="l"/>
            <a:pathLst>
              <a:path h="3030039" w="5198428">
                <a:moveTo>
                  <a:pt x="0" y="0"/>
                </a:moveTo>
                <a:lnTo>
                  <a:pt x="5198428" y="0"/>
                </a:lnTo>
                <a:lnTo>
                  <a:pt x="5198428" y="3030039"/>
                </a:lnTo>
                <a:lnTo>
                  <a:pt x="0" y="30300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342896" y="-357187"/>
            <a:ext cx="4641156" cy="2705218"/>
          </a:xfrm>
          <a:custGeom>
            <a:avLst/>
            <a:gdLst/>
            <a:ahLst/>
            <a:cxnLst/>
            <a:rect r="r" b="b" t="t" l="l"/>
            <a:pathLst>
              <a:path h="2705218" w="4641156">
                <a:moveTo>
                  <a:pt x="4641155" y="2705218"/>
                </a:moveTo>
                <a:lnTo>
                  <a:pt x="0" y="2705218"/>
                </a:lnTo>
                <a:lnTo>
                  <a:pt x="0" y="0"/>
                </a:lnTo>
                <a:lnTo>
                  <a:pt x="4641155" y="0"/>
                </a:lnTo>
                <a:lnTo>
                  <a:pt x="4641155" y="2705218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97727" y="864255"/>
            <a:ext cx="1000929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REFERENCES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6489" y="2924594"/>
            <a:ext cx="14967824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[1] V. VERMA, D. SINGH, AND N. KHANNA, 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"BLOCK-LEVEL DOUBLE JPEG COMPRESSION DETECTION FOR IMAGE FORGERY LOCALIZATION," 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ARXIV PREPRINT ARXIV:2003.09393, 2020.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6489" y="4481722"/>
            <a:ext cx="17801511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[2]PA</a:t>
            </a: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RK, J., CHO, D., AHN, W., LEE, H.K.: DOUBLE JPEG DETECTION IN MIXED JPEG QUALITY FACTORS USING DEEP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CONVOLUTIONAL NEURAL NETWORK. IN: PROCEEDINGS OF THE EUROPEAN CONFERENCE ON COMPUTER VISION (ECCV),</a:t>
            </a:r>
          </a:p>
          <a:p>
            <a:pPr algn="l">
              <a:lnSpc>
                <a:spcPts val="3499"/>
              </a:lnSpc>
            </a:pPr>
            <a:r>
              <a:rPr lang="en-US" b="true" sz="2499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636–652 (2018)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4614" y="7908080"/>
            <a:ext cx="4669639" cy="2721820"/>
          </a:xfrm>
          <a:custGeom>
            <a:avLst/>
            <a:gdLst/>
            <a:ahLst/>
            <a:cxnLst/>
            <a:rect r="r" b="b" t="t" l="l"/>
            <a:pathLst>
              <a:path h="2721820" w="4669639">
                <a:moveTo>
                  <a:pt x="0" y="0"/>
                </a:moveTo>
                <a:lnTo>
                  <a:pt x="4669639" y="0"/>
                </a:lnTo>
                <a:lnTo>
                  <a:pt x="4669639" y="2721820"/>
                </a:lnTo>
                <a:lnTo>
                  <a:pt x="0" y="27218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924800" y="-357188"/>
            <a:ext cx="4059252" cy="2366040"/>
          </a:xfrm>
          <a:custGeom>
            <a:avLst/>
            <a:gdLst/>
            <a:ahLst/>
            <a:cxnLst/>
            <a:rect r="r" b="b" t="t" l="l"/>
            <a:pathLst>
              <a:path h="2366040" w="4059252">
                <a:moveTo>
                  <a:pt x="4059251" y="2366041"/>
                </a:moveTo>
                <a:lnTo>
                  <a:pt x="0" y="2366041"/>
                </a:lnTo>
                <a:lnTo>
                  <a:pt x="0" y="0"/>
                </a:lnTo>
                <a:lnTo>
                  <a:pt x="4059251" y="0"/>
                </a:lnTo>
                <a:lnTo>
                  <a:pt x="4059251" y="236604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002168">
            <a:off x="-1222246" y="-3356253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0" y="0"/>
                </a:moveTo>
                <a:lnTo>
                  <a:pt x="5987225" y="0"/>
                </a:lnTo>
                <a:lnTo>
                  <a:pt x="5987225" y="5998131"/>
                </a:lnTo>
                <a:lnTo>
                  <a:pt x="0" y="59981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-5002168">
            <a:off x="14265687" y="7630834"/>
            <a:ext cx="5987226" cy="5998131"/>
          </a:xfrm>
          <a:custGeom>
            <a:avLst/>
            <a:gdLst/>
            <a:ahLst/>
            <a:cxnLst/>
            <a:rect r="r" b="b" t="t" l="l"/>
            <a:pathLst>
              <a:path h="5998131" w="5987226">
                <a:moveTo>
                  <a:pt x="5987226" y="5998132"/>
                </a:moveTo>
                <a:lnTo>
                  <a:pt x="0" y="5998132"/>
                </a:lnTo>
                <a:lnTo>
                  <a:pt x="0" y="0"/>
                </a:lnTo>
                <a:lnTo>
                  <a:pt x="5987226" y="0"/>
                </a:lnTo>
                <a:lnTo>
                  <a:pt x="5987226" y="599813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7488824">
            <a:off x="-221065" y="7727724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7488824">
            <a:off x="17178162" y="-1873476"/>
            <a:ext cx="3071030" cy="5804353"/>
          </a:xfrm>
          <a:custGeom>
            <a:avLst/>
            <a:gdLst/>
            <a:ahLst/>
            <a:cxnLst/>
            <a:rect r="r" b="b" t="t" l="l"/>
            <a:pathLst>
              <a:path h="5804353" w="3071030">
                <a:moveTo>
                  <a:pt x="0" y="0"/>
                </a:moveTo>
                <a:lnTo>
                  <a:pt x="3071030" y="0"/>
                </a:lnTo>
                <a:lnTo>
                  <a:pt x="3071030" y="5804352"/>
                </a:lnTo>
                <a:lnTo>
                  <a:pt x="0" y="5804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34754" y="3963894"/>
            <a:ext cx="13018493" cy="2130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b="true" sz="12492">
                <a:solidFill>
                  <a:srgbClr val="0C3571"/>
                </a:solidFill>
                <a:latin typeface="Anantason Bold"/>
                <a:ea typeface="Anantason Bold"/>
                <a:cs typeface="Anantason Bold"/>
                <a:sym typeface="Anantason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DAHIhTJjdgk</dc:identifier>
  <dcterms:modified xsi:type="dcterms:W3CDTF">2011-08-01T06:04:30Z</dcterms:modified>
  <cp:revision>1</cp:revision>
  <dc:title>dip</dc:title>
</cp:coreProperties>
</file>